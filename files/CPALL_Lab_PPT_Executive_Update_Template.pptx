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68" r:id="rId12"/>
    <p:sldId id="2569" r:id="rId13"/>
    <p:sldId id="2570" r:id="rId14"/>
    <p:sldId id="2571" r:id="rId15"/>
    <p:sldId id="2572" r:id="rId16"/>
    <p:sldId id="2573" r:id="rId17"/>
  </p:sldIdLst>
  <p:sldSz cx="12192000" cy="6858000"/>
  <p:notesSz cx="6858000" cy="9144000"/>
  <p:defaultTextStyle>
    <a:defPPr rtl="0">
      <a:defRPr lang="th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สรุปผลการปฏิบัติการศูนย์กระจายสินค้า (Executive Update Template)" id="{F9D1261E-E272-4AFE-9987-2FCA012BF498}">
          <p14:sldIdLst>
            <p14:sldId id="2561"/>
          </p14:sldIdLst>
        </p14:section>
        <p14:section name="ภาพรวมและวัตถุประสงค์การรายงาน" id="{7285CE7D-A781-465F-92B2-70DF471D3BF6}">
          <p14:sldIdLst>
            <p14:sldId id="2562"/>
            <p14:sldId id="2563"/>
          </p14:sldIdLst>
        </p14:section>
        <p14:section name="โครงสร้างการนำเสนอสำหรับผู้บริหาร" id="{4E264293-1C6A-4811-ACE1-54322E3DD67D}">
          <p14:sldIdLst>
            <p14:sldId id="2564"/>
            <p14:sldId id="2565"/>
          </p14:sldIdLst>
        </p14:section>
        <p14:section name="ผลการดำเนินงานเชิงตัวเลข" id="{4D960472-299C-470B-8A6B-A8A246DA63C6}">
          <p14:sldIdLst>
            <p14:sldId id="2566"/>
            <p14:sldId id="2567"/>
          </p14:sldIdLst>
        </p14:section>
        <p14:section name="การวิเคราะห์ปัญหาและสาเหตุ" id="{23738815-15CF-4A25-93DC-89B44A8DBA2C}">
          <p14:sldIdLst>
            <p14:sldId id="2568"/>
            <p14:sldId id="2569"/>
          </p14:sldIdLst>
        </p14:section>
        <p14:section name="แผนการแก้ไขระยะสั้น" id="{99BE68C1-1BBC-45D5-AC75-9E7587CE1B5E}">
          <p14:sldIdLst>
            <p14:sldId id="2570"/>
            <p14:sldId id="2571"/>
          </p14:sldIdLst>
        </p14:section>
        <p14:section name="การตัดสินใจและการสนับสนุนจากผู้บริหาร" id="{18DEA12B-ECC3-4FB0-8B09-C149CB832D5C}">
          <p14:sldIdLst>
            <p14:sldId id="2572"/>
            <p14:sldId id="25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AF905A-C3C0-5D01-6E59-19858A435EAA}" v="2" dt="2026-03-23T14:44:17.606"/>
    <p1510:client id="{E59B87CA-4451-4FA7-80B3-A344C116C40C}" v="15" dt="2026-03-23T14:42:38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rasej Jiraphatchandej" userId="S::teerasej@nextflowth.onmicrosoft.com::87bc5a43-48ce-4685-8e04-a71c869f30f3" providerId="AD" clId="Web-{A9AF905A-C3C0-5D01-6E59-19858A435EAA}"/>
    <pc:docChg chg="modSld">
      <pc:chgData name="Teerasej Jiraphatchandej" userId="S::teerasej@nextflowth.onmicrosoft.com::87bc5a43-48ce-4685-8e04-a71c869f30f3" providerId="AD" clId="Web-{A9AF905A-C3C0-5D01-6E59-19858A435EAA}" dt="2026-03-23T14:44:17.606" v="1" actId="14100"/>
      <pc:docMkLst>
        <pc:docMk/>
      </pc:docMkLst>
      <pc:sldChg chg="modSp">
        <pc:chgData name="Teerasej Jiraphatchandej" userId="S::teerasej@nextflowth.onmicrosoft.com::87bc5a43-48ce-4685-8e04-a71c869f30f3" providerId="AD" clId="Web-{A9AF905A-C3C0-5D01-6E59-19858A435EAA}" dt="2026-03-23T14:44:08.481" v="0" actId="14100"/>
        <pc:sldMkLst>
          <pc:docMk/>
          <pc:sldMk cId="616045723" sldId="2563"/>
        </pc:sldMkLst>
        <pc:spChg chg="mod">
          <ac:chgData name="Teerasej Jiraphatchandej" userId="S::teerasej@nextflowth.onmicrosoft.com::87bc5a43-48ce-4685-8e04-a71c869f30f3" providerId="AD" clId="Web-{A9AF905A-C3C0-5D01-6E59-19858A435EAA}" dt="2026-03-23T14:44:08.481" v="0" actId="14100"/>
          <ac:spMkLst>
            <pc:docMk/>
            <pc:sldMk cId="616045723" sldId="2563"/>
            <ac:spMk id="4" creationId="{880AC119-9448-FE5E-81B6-A21A0846790D}"/>
          </ac:spMkLst>
        </pc:spChg>
      </pc:sldChg>
      <pc:sldChg chg="modSp">
        <pc:chgData name="Teerasej Jiraphatchandej" userId="S::teerasej@nextflowth.onmicrosoft.com::87bc5a43-48ce-4685-8e04-a71c869f30f3" providerId="AD" clId="Web-{A9AF905A-C3C0-5D01-6E59-19858A435EAA}" dt="2026-03-23T14:44:17.606" v="1" actId="14100"/>
        <pc:sldMkLst>
          <pc:docMk/>
          <pc:sldMk cId="4002481717" sldId="2567"/>
        </pc:sldMkLst>
        <pc:spChg chg="mod">
          <ac:chgData name="Teerasej Jiraphatchandej" userId="S::teerasej@nextflowth.onmicrosoft.com::87bc5a43-48ce-4685-8e04-a71c869f30f3" providerId="AD" clId="Web-{A9AF905A-C3C0-5D01-6E59-19858A435EAA}" dt="2026-03-23T14:44:17.606" v="1" actId="14100"/>
          <ac:spMkLst>
            <pc:docMk/>
            <pc:sldMk cId="4002481717" sldId="2567"/>
            <ac:spMk id="4" creationId="{4030DA6C-594F-FA2A-4D01-45C18BFE3D3F}"/>
          </ac:spMkLst>
        </pc:spChg>
      </pc:sldChg>
    </pc:docChg>
  </pc:docChgLst>
  <pc:docChgLst>
    <pc:chgData clId="Web-{E59B87CA-4451-4FA7-80B3-A344C116C40C}"/>
    <pc:docChg chg="addSld delSld modSld addSection">
      <pc:chgData name="" userId="" providerId="" clId="Web-{E59B87CA-4451-4FA7-80B3-A344C116C40C}" dt="2026-03-23T14:42:38.239" v="15" actId="34807"/>
      <pc:docMkLst>
        <pc:docMk/>
      </pc:docMkLst>
      <pc:sldChg chg="del">
        <pc:chgData name="" userId="" providerId="" clId="Web-{E59B87CA-4451-4FA7-80B3-A344C116C40C}" dt="2026-03-23T14:42:38.177" v="0" actId="34807"/>
        <pc:sldMkLst>
          <pc:docMk/>
          <pc:sldMk cId="2716566729" sldId="257"/>
        </pc:sldMkLst>
      </pc:sldChg>
      <pc:sldChg chg="modSp add mod addAnim chgLayout">
        <pc:chgData name="" userId="" providerId="" clId="Web-{E59B87CA-4451-4FA7-80B3-A344C116C40C}" dt="2026-03-23T14:42:38.223" v="3" actId="34807"/>
        <pc:sldMkLst>
          <pc:docMk/>
          <pc:sldMk cId="3332420667" sldId="2561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3332420667" sldId="2561"/>
            <ac:spMk id="2" creationId="{62E864D4-D39A-AF7A-55BB-BEC7C693BE06}"/>
          </ac:spMkLst>
        </pc:spChg>
        <pc:spChg chg="mod ord">
          <ac:chgData name="" userId="" providerId="" clId="Web-{E59B87CA-4451-4FA7-80B3-A344C116C40C}" dt="2026-03-23T14:42:38.223" v="1" actId="34807"/>
          <ac:spMkLst>
            <pc:docMk/>
            <pc:sldMk cId="3332420667" sldId="2561"/>
            <ac:spMk id="3" creationId="{5794DF62-7D4E-6CFE-0C75-579E6A3566C0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3332420667" sldId="2561"/>
            <ac:picMk id="4" creationId="{8B8042E6-8C83-4C73-855E-6215C4FFDA4C}"/>
          </ac:picMkLst>
        </pc:picChg>
      </pc:sldChg>
      <pc:sldChg chg="modSp add mod modTransition addAnim chgLayout">
        <pc:chgData name="" userId="" providerId="" clId="Web-{E59B87CA-4451-4FA7-80B3-A344C116C40C}" dt="2026-03-23T14:42:38.223" v="4" actId="34807"/>
        <pc:sldMkLst>
          <pc:docMk/>
          <pc:sldMk cId="2947801509" sldId="2562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2947801509" sldId="2562"/>
            <ac:spMk id="2" creationId="{CF22037D-42DC-FA37-5B11-A54874E98CC5}"/>
          </ac:spMkLst>
        </pc:spChg>
      </pc:sldChg>
      <pc:sldChg chg="modSp add mod modTransition modClrScheme addAnim chgLayout">
        <pc:chgData name="" userId="" providerId="" clId="Web-{E59B87CA-4451-4FA7-80B3-A344C116C40C}" dt="2026-03-23T14:42:38.223" v="5" actId="34807"/>
        <pc:sldMkLst>
          <pc:docMk/>
          <pc:sldMk cId="616045723" sldId="2563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616045723" sldId="2563"/>
            <ac:spMk id="2" creationId="{221B4F73-0186-9437-E262-B621B1B172E0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616045723" sldId="2563"/>
            <ac:spMk id="4" creationId="{880AC119-9448-FE5E-81B6-A21A0846790D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616045723" sldId="2563"/>
            <ac:picMk id="5" creationId="{8C40D3B2-6958-4EC0-8584-255893E07F9E}"/>
          </ac:picMkLst>
        </pc:picChg>
      </pc:sldChg>
      <pc:sldChg chg="modSp add mod modTransition addAnim chgLayout">
        <pc:chgData name="" userId="" providerId="" clId="Web-{E59B87CA-4451-4FA7-80B3-A344C116C40C}" dt="2026-03-23T14:42:38.223" v="6" actId="34807"/>
        <pc:sldMkLst>
          <pc:docMk/>
          <pc:sldMk cId="834005365" sldId="2564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834005365" sldId="2564"/>
            <ac:spMk id="2" creationId="{65610094-3583-0BDE-B099-F3C9CCC3B183}"/>
          </ac:spMkLst>
        </pc:spChg>
      </pc:sldChg>
      <pc:sldChg chg="modSp add mod modTransition modClrScheme addAnim chgLayout">
        <pc:chgData name="" userId="" providerId="" clId="Web-{E59B87CA-4451-4FA7-80B3-A344C116C40C}" dt="2026-03-23T14:42:38.223" v="7" actId="34807"/>
        <pc:sldMkLst>
          <pc:docMk/>
          <pc:sldMk cId="2493724418" sldId="2565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2493724418" sldId="2565"/>
            <ac:spMk id="2" creationId="{E8124F1F-0E5D-F5C7-6E9E-54B9586A6898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2493724418" sldId="2565"/>
            <ac:spMk id="4" creationId="{EEC5090A-B1A8-630D-0521-4EC6A565EE86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2493724418" sldId="2565"/>
            <ac:picMk id="5" creationId="{51767530-ED19-4F15-986F-D7F1B1E32A3C}"/>
          </ac:picMkLst>
        </pc:picChg>
      </pc:sldChg>
      <pc:sldChg chg="modSp add mod modTransition addAnim chgLayout">
        <pc:chgData name="" userId="" providerId="" clId="Web-{E59B87CA-4451-4FA7-80B3-A344C116C40C}" dt="2026-03-23T14:42:38.223" v="8" actId="34807"/>
        <pc:sldMkLst>
          <pc:docMk/>
          <pc:sldMk cId="1635419528" sldId="2566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1635419528" sldId="2566"/>
            <ac:spMk id="2" creationId="{E31B6829-2729-2F1A-1D5B-859761DF76A8}"/>
          </ac:spMkLst>
        </pc:spChg>
      </pc:sldChg>
      <pc:sldChg chg="modSp add mod modTransition modClrScheme addAnim chgLayout">
        <pc:chgData name="" userId="" providerId="" clId="Web-{E59B87CA-4451-4FA7-80B3-A344C116C40C}" dt="2026-03-23T14:42:38.223" v="9" actId="34807"/>
        <pc:sldMkLst>
          <pc:docMk/>
          <pc:sldMk cId="4002481717" sldId="2567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4002481717" sldId="2567"/>
            <ac:spMk id="2" creationId="{1A72F8EA-6268-E497-4B10-05AD00B4CCD7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4002481717" sldId="2567"/>
            <ac:spMk id="4" creationId="{4030DA6C-594F-FA2A-4D01-45C18BFE3D3F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4002481717" sldId="2567"/>
            <ac:picMk id="5" creationId="{5DBEBBD5-A26C-45CB-918C-E10D59D96A6D}"/>
          </ac:picMkLst>
        </pc:picChg>
      </pc:sldChg>
      <pc:sldChg chg="modSp add mod modTransition addAnim chgLayout">
        <pc:chgData name="" userId="" providerId="" clId="Web-{E59B87CA-4451-4FA7-80B3-A344C116C40C}" dt="2026-03-23T14:42:38.223" v="10" actId="34807"/>
        <pc:sldMkLst>
          <pc:docMk/>
          <pc:sldMk cId="1508343723" sldId="2568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1508343723" sldId="2568"/>
            <ac:spMk id="2" creationId="{378F0EBD-2300-5598-C24C-8A0B06D641D7}"/>
          </ac:spMkLst>
        </pc:spChg>
      </pc:sldChg>
      <pc:sldChg chg="modSp add mod modTransition modClrScheme addAnim chgLayout">
        <pc:chgData name="" userId="" providerId="" clId="Web-{E59B87CA-4451-4FA7-80B3-A344C116C40C}" dt="2026-03-23T14:42:38.239" v="11" actId="34807"/>
        <pc:sldMkLst>
          <pc:docMk/>
          <pc:sldMk cId="1620997551" sldId="2569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1620997551" sldId="2569"/>
            <ac:spMk id="2" creationId="{60BF7DED-0C1B-F42B-B528-7B2AE6B4F27F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1620997551" sldId="2569"/>
            <ac:spMk id="4" creationId="{00A571F0-F6DE-B7FC-AE39-9C1497261616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1620997551" sldId="2569"/>
            <ac:picMk id="5" creationId="{8A7D9563-98C8-4577-A1EF-A7A99617A68B}"/>
          </ac:picMkLst>
        </pc:picChg>
      </pc:sldChg>
      <pc:sldChg chg="modSp add mod modTransition addAnim chgLayout">
        <pc:chgData name="" userId="" providerId="" clId="Web-{E59B87CA-4451-4FA7-80B3-A344C116C40C}" dt="2026-03-23T14:42:38.239" v="12" actId="34807"/>
        <pc:sldMkLst>
          <pc:docMk/>
          <pc:sldMk cId="4270284174" sldId="2570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4270284174" sldId="2570"/>
            <ac:spMk id="2" creationId="{EACCE5D2-CC30-1440-6225-162A33B51DED}"/>
          </ac:spMkLst>
        </pc:spChg>
      </pc:sldChg>
      <pc:sldChg chg="modSp add mod modTransition modClrScheme addAnim chgLayout">
        <pc:chgData name="" userId="" providerId="" clId="Web-{E59B87CA-4451-4FA7-80B3-A344C116C40C}" dt="2026-03-23T14:42:38.239" v="13" actId="34807"/>
        <pc:sldMkLst>
          <pc:docMk/>
          <pc:sldMk cId="4041331933" sldId="2571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4041331933" sldId="2571"/>
            <ac:spMk id="2" creationId="{9ED6F435-6D76-0B3F-4BD2-E4F442397643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4041331933" sldId="2571"/>
            <ac:spMk id="4" creationId="{47F38C22-935C-30FF-DD79-6CF6086126D0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4041331933" sldId="2571"/>
            <ac:picMk id="5" creationId="{6379F051-14CC-4916-9B04-A1D8F41AE096}"/>
          </ac:picMkLst>
        </pc:picChg>
      </pc:sldChg>
      <pc:sldChg chg="modSp add mod modTransition addAnim chgLayout">
        <pc:chgData name="" userId="" providerId="" clId="Web-{E59B87CA-4451-4FA7-80B3-A344C116C40C}" dt="2026-03-23T14:42:38.239" v="14" actId="34807"/>
        <pc:sldMkLst>
          <pc:docMk/>
          <pc:sldMk cId="2961103739" sldId="2572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2961103739" sldId="2572"/>
            <ac:spMk id="2" creationId="{B8319145-DFD4-263B-6794-4F6B49ABDA91}"/>
          </ac:spMkLst>
        </pc:spChg>
      </pc:sldChg>
      <pc:sldChg chg="modSp add mod modTransition addAnim chgLayout">
        <pc:chgData name="" userId="" providerId="" clId="Web-{E59B87CA-4451-4FA7-80B3-A344C116C40C}" dt="2026-03-23T14:42:38.239" v="15" actId="34807"/>
        <pc:sldMkLst>
          <pc:docMk/>
          <pc:sldMk cId="680338127" sldId="2573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680338127" sldId="2573"/>
            <ac:spMk id="2" creationId="{E4E61863-7C4E-BED7-AC44-0411C383259D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680338127" sldId="2573"/>
            <ac:spMk id="4" creationId="{BFE16220-7FBE-90FB-25E6-92EF7BA78648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680338127" sldId="2573"/>
            <ac:picMk id="5" creationId="{14523A0C-A316-4574-9CCF-00712524E7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536E8-388B-4487-9922-EE2E5F0AE820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48A42-FA56-4AB7-BDFF-D7CAECA29B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เนื้อหาที่สร้างโดย AI อาจไม่ถูกต้อง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ภาพรวมการปฏิบัติการและบริบทสำหรับผู้บริหาร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7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นี้มีวัตถุประสงค์เพื่ออธิบายบริบทของการรายงานผลการปฏิบัติการศูนย์กระจายสินค้าในช่วงวันที่ 1–28 กุมภาพันธ์ 2026 โดยออกแบบมาเพื่อให้ผู้บริหารสามารถเข้าใจภาพรวมได้อย่างรวดเร็วภายในไม่กี่นาที รายงานครอบคลุมศูนย์กระจายสินค้าหลัก 4 แห่ง ได้แก่ DC-บางบัวทอง, DC-ลาดกระบัง, DC-เชียงใหม่ และ DC-ขอนแก่น ซึ่งเป็นหัวใจสำคัญของห่วงโซ่อุปทานธุรกิจค้าปลีก การรายงานนี้มุ่งเน้นการสรุปประสิทธิภาพการดำเนินงานในมุมผู้บริหาร โดยเน้นคำถามหลักสี่ข้อคือ เกิดอะไรขึ้น (What happened) ทำไมจึงเกิดขึ้น (Why) ส่งผลกระทบอย่างไรต่อธุรกิจ (So what) และควรดำเนินการอย่างไรต่อไป (Now what) โครงสร้างรายงานถูกออกแบบให้กระชับ ชัดเจน และเน้นการตัดสินใจ โดยใช้ข้อมูลจริงจากระบบปฏิบัติการและ KPI หลัก เช่น อัตราการส่งตรงเวลา อัตราการเติมเต็มสินค้า ชั่วโมงแรงงาน และเหตุการณ์ด้านความปลอดภัย ตัวอย่างรายงานนี้ยังถูกใช้เป็น Template สำหรับการฝึกอบรม M365 Copilot เพื่อแสดงให้เห็นว่าข้อมูลดิบและโน้ตจากหน้างานสามารถถูกแปลงเป็นรายงานระดับผู้บริหารได้อย่างมีประสิทธิภาพ ช่วยลดเวลาการจัดทำรายงาน เพิ่มความสม่ำเสมอของเนื้อหา และยกระดับคุณภาพการสื่อสารเชิงกลยุทธ์ภายในองค์กร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Agenda และลำดับการเล่าเรื่องเชิงบริหาร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04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Agenda ทำหน้าที่กำหนดกรอบความคิดและลำดับการเล่าเรื่องให้ผู้บริหารเข้าใจตั้งแต่ต้นว่าการนำเสนอครั้งนี้จะพาไปสู่การตัดสินใจใดบ้าง โครงสร้างมาตรฐานประกอบด้วย Executive Summary เพื่อสรุปสาระสำคัญในภาพรวม ตามด้วย KPI Highlights ที่สะท้อนผลการดำเนินงานเชิงตัวเลข จากนั้นจึงลงลึกไปที่ประเด็นปัญหาและสาเหตุหลักที่พบในช่วงเวลารายงาน พร้อมนำเสนอแผนแก้ไขระยะสั้นภายใน 2 สัปดาห์ และปิดท้ายด้วยรายการที่ต้องการการตัดสินใจหรือการสนับสนุนจากผู้บริหาร การจัดลำดับเช่นนี้ช่วยให้ผู้บริหารไม่ต้องไล่อ่านรายละเอียดก่อน แต่สามารถรับรู้ภาพรวมและประเด็นสำคัญได้ทันที Agenda ที่ชัดเจนยังช่วยให้การประชุมมีประสิทธิภาพ ลดคำถามซ้ำ และโฟกัสการสนทนาไปที่การตัดสินใจมากกว่าการอธิบายข้อมูลพื้นฐาน ในบริบทของการใช้ Copilot โครงสร้าง Agenda นี้สามารถถูกสร้างหรือปรับแต่งอัตโนมัติจากข้อมูลต้นทาง เช่น Word หรือ Excel ช่วยให้ทีมงานใช้เวลาไปกับการวิเคราะห์และเตรียมข้อเสนอเชิงกลยุทธ์มากขึ้น แทนที่จะเสียเวลาไปกับการจัดรูปแบบสไลด์หรือเรียบเรียงลำดับเนื้อหา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06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KPI Highlights ของศูนย์กระจายสินค้า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50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KPI Highlights มีบทบาทสำคัญในการสื่อสารผลการดำเนินงานเชิงตัวเลขให้ผู้บริหารเห็นภาพเดียวกัน โดยเน้นตัวชี้วัดหลักที่สะท้อนคุณภาพการให้บริการและประสิทธิภาพการปฏิบัติการ เช่น จำนวนออเดอร์รวม อัตราการส่งตรงเวลา อัตราการเติมเต็มสินค้า และชั่วโมง OT รวม การนำเสนอในรูปแบบตารางหรือสรุปตัวเลขช่วยให้สามารถเปรียบเทียบผลลัพธ์ระหว่างศูนย์กระจายสินค้าได้อย่างรวดเร็ว ตัวอย่างเช่น การพบว่า DC-บางบัวทองมีอัตราการส่งตรงเวลาลดลงในบางวัน พร้อมกับชั่วโมง OT ที่เพิ่มสูงขึ้น อาจสะท้อนปัญหาคอขวดหรือการวางแผนทรัพยากรที่ต้องได้รับการแก้ไข ในขณะเดียวกัน DC-เชียงใหม่อาจมี Fill rate ลดลงจากปัญหา lead time ของผู้ขาย ข้อมูลเหล่านี้เมื่อถูกนำเสนออย่างกระชับ จะช่วยให้ผู้บริหารสามารถตั้งคำถามที่ถูกต้องและตัดสินใจได้เร็วขึ้น ในบริบทของการฝึกอบรม Copilot สไลด์นี้แสดงให้เห็นว่าข้อมูลจาก Excel สามารถถูกดึงมา สรุป และจัดรูปแบบเป็นสไลด์สำหรับผู้บริหารได้โดยอัตโนมัติ ลดความเสี่ยงจากการคัดลอกข้อมูลผิดพลาด และเพิ่มความน่าเชื่อถือของรายงาน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48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Issues และ Root Causes ที่ส่งผลต่อการปฏิบัติการ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46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Issues &amp; Root Causes ถูกออกแบบมาเพื่อเชื่อมโยงตัวเลข KPI กับสถานการณ์จริงในหน้างาน โดยอธิบายว่าปัญหาที่เกิดขึ้นมีที่มาอย่างไร และส่งผลกระทบต่อการปฏิบัติการในมิติใด ตัวอย่างเช่น การส่งตรงเวลาที่ลดลงของ DC-บางบัวทองในวันที่ 10 และ 18 กุมภาพันธ์ สามารถเชื่อมโยงกับการขาดแคลนรถขนส่งและคอขวดในจุดคัดแยก ขณะที่ Fill rate ที่ลดลงของ DC-เชียงใหม่ในบางวันอาจเกิดจากการที่สินค้าเข้าคลังไม่เป็นไปตามแผนและ lead time ของผู้ขายที่ยืดออก นอกจากนี้ยังมีประเด็นด้านความปลอดภัย เช่น near-miss และ incident จากการใช้รถโฟล์คลิฟต์ในพื้นที่คับแคบ การนำเสนอปัญหาในลักษณะนี้ช่วยให้ผู้บริหารเข้าใจว่า KPI ไม่ได้เป็นเพียงตัวเลข แต่สะท้อนความเสี่ยงด้านการบริการ ความปลอดภัย และต้นทุนแรงงาน การใช้ Copilot และ Analysis Agent สามารถช่วยสรุปความเชื่อมโยงเหล่านี้จากข้อมูลจำนวนมากให้กลายเป็นข้อสรุปที่เข้าใจง่ายและพร้อมสำหรับการตัดสิน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22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แผนแก้ไข 2 สัปดาห์และผู้รับผิดชอบ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13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2-Week Mitigation Plan มุ่งเน้นการแปลงปัญหาให้เป็นการลงมือทำอย่างเป็นรูปธรรม โดยระบุ Action ที่ชัดเจน ผู้รับผิดชอบ ระยะเวลา และผลลัพธ์ที่คาดหวัง ตัวอย่าง Action ได้แก่ การปรับรอบรับสินค้าและเพิ่มจุดสแกนชั่วคราวเพื่อลดคอขวด การทบทวนเส้นทางและเพิ่มรถขนส่งสำรองในช่วงเวลา peak รวมถึงการทำ 5S และเสริมมาตรการความปลอดภัยในโซนคัดแยก แผนลักษณะนี้ช่วยให้ผู้บริหารมั่นใจว่าทีมปฏิบัติการมีการตอบสนองต่อปัญหาอย่างเป็นระบบ และสามารถติดตามความคืบหน้าได้ง่าย การใช้ตาราง Action plan ยังช่วยสร้างความชัดเจนด้านความรับผิดชอบ ลดความคลุมเครือ และเพิ่มโอกาสในการแก้ไขปัญหาได้ตรงจุด ในมุมของการใช้ Copilot ตารางและเนื้อหาเหล่านี้สามารถถูกสร้างจากโน้ตดิบหรือไฟล์ Word ได้อัตโนมัติ ช่วยให้ทีมงานโฟกัสกับการออกแบบแนวทางแก้ไขมากกว่าการจัดเอกสาร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91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Requests to Leadership และการตัดสินใจที่ต้องการ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57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Requests to Leadership เป็นจุดสำคัญที่สุดของการนำเสนอ เพราะเป็นส่วนที่เชื่อมโยงข้อมูลและการวิเคราะห์ทั้งหมดเข้ากับการตัดสินใจของผู้บริหาร ตัวอย่างคำขออาจรวมถึงการอนุมัติรถขนส่งสำรองเพิ่มเติมในช่วงเวลา peak การสนับสนุนงบประมาณสำหรับอุปกรณ์สแกนชั่วคราว หรือการสนับสนุนแคมเปญด้านความปลอดภัยในคลังสินค้า การระบุคำขออย่างชัดเจนช่วยให้ผู้บริหารเข้าใจว่าการตัดสินใจของตนจะส่งผลอย่างไรต่อการแก้ไขปัญหาและผลการดำเนินงานในระยะสั้นและระยะยาว สไลด์นี้ยังช่วยปิดวงจรการเล่าเรื่องจากข้อมูล → ปัญหา → แผน → การตัดสินใจ ซึ่งเป็นหัวใจของการสื่อสารเชิงบริหาร ในบริบทของการฝึกอบรม M365 Copilot สไลด์นี้แสดงให้เห็นว่า Copilot สามารถช่วยสรุปข้อเสนอเชิงกลยุทธ์จากข้อมูลจำนวนมากให้กลายเป็นคำขอที่ชัดเจน กระชับ และพร้อมสำหรับการตัดสินใจของผู้บริหารได้อย่างไร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48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เรื่องที่มีรูปภาพ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ตัวแทนวันที่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73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754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31520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เรื่องที่มีรูปภาพ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สี่เหลี่ยมผืนผ้า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89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เรื่องที่มีรูปภาพ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rtlCol="0"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90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ชื่อเรื่อ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9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ชื่อเรื่อง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ชื่อเรื่อง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A219385-CEEC-20A5-C72F-B13448DE6E0F}"/>
              </a:ext>
            </a:extLst>
          </p:cNvPr>
          <p:cNvSpPr/>
          <p:nvPr/>
        </p:nvSpPr>
        <p:spPr>
          <a:xfrm>
            <a:off x="0" y="-12003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0997" y="-2673001"/>
            <a:ext cx="6870003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12" name="ตัวแทนท้ายกระดาษ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1" name="ตัวแทนวันที่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34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ส่วนหัวของส่วน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57856" y="-2666214"/>
            <a:ext cx="6876288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6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5" name="ตัวแทนท้ายกระดาษ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4" name="ตัวแทนวันที่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6" name="ตัวแทนหมายเลขสไลด์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33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ส่วนหัวของส่วน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กำหนดการ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rtlCol="0"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กำหนดการที่มีรูปภาพ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1" name="ตัวแทนรูปภาพ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5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rtlCol="0"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6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98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rtlCol="0"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rtlCol="0"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2" name="ตัวแทนท้ายกระดาษ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ตัวแทนวันที่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79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rtlCol="0"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66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rtlCol="0"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51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rtlCol="0"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4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กลุ่ม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4" name="สี่เหลี่ยมผืนผ้า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4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endParaRPr lang="en-US"/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0" name="ตัวแทนวันที่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71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11" name="ตัวแทนรูปภาพ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00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3308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9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ตัวแทนรูปภาพ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101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8119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กลุ่ม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สี่เหลี่ยมผืนผ้า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สี่เหลี่ยมผืนผ้า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ตัวแทนวันที่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3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2" name="ตัวแทนรูปภาพ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7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639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0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รูปภาพ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11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2" name="ตัวแทนรูปภาพ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946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6" name="สี่เหลี่ยมผืนผ้า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rtlCol="0" anchor="ctr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6550152" cy="4489704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600" y="1801367"/>
            <a:ext cx="3718561" cy="4489704"/>
          </a:xfrm>
        </p:spPr>
        <p:txBody>
          <a:bodyPr rtlCol="0" anchor="ctr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0" name="ตัวแทนหมายเลขสไลด์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289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รูปภาพ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ตัวแทนวันที่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54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รูปภาพ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2" name="ตัวแทนท้ายกระดาษ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53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ตัวเลขขนาดใหญ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8" name="กลุ่ม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64922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rtlCol="0"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rtlCol="0"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##%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2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ตัวเลขขนาดใหญ่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 rtl="0"/>
            <a:r>
              <a:rPr lang="th-th"/>
              <a:t>##%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ตัวเลขขนาดใหญ่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 rtl="0"/>
            <a:r>
              <a:rPr lang="th-th"/>
              <a:t>##%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787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ข้อควา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 rtl="0"/>
            <a:r>
              <a:rPr lang="th-th"/>
              <a:t>คลิกเพื่อแก้ไขข้อความ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985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ข้อความ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6" name="กลุ่ม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สี่เหลี่ยมผืนผ้า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กลุ่ม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สี่เหลี่ยมผืนผ้า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สี่เหลี่ยมผืนผ้า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9" name="กลุ่ม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สี่เหลี่ยมผืนผ้า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1" name="สี่เหลี่ยมผืนผ้า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th-th"/>
              <a:t>คลิกเพื่อแก้ไขข้อความ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4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22" name="กลุ่ม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สี่เหลี่ยมผืนผ้า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4" name="สี่เหลี่ยมผืนผ้า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 rtl="0"/>
            <a:r>
              <a:rPr lang="th-th"/>
              <a:t>คลิกเพื่อแก้ไขข้อความ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39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pPr rtl="0"/>
            <a:r>
              <a:rPr lang="th-th"/>
              <a:t>ผู้เขียนข้อความอ้างอิง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 rtl="0"/>
            <a:r>
              <a:rPr lang="th-th"/>
              <a:t>คลิกเพื่อแก้ไขข้อความอ้างอิง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86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อ้างอิง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8" name="กลุ่ม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ผู้เขียนข้อความอ้างอิง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th-th"/>
              <a:t>คลิกเพื่อแก้ไขข้อความอ้างอิง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9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อ้างอิง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กลุ่ม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สี่เหลี่ยมผืนผ้า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" name="สี่เหลี่ยมผืนผ้า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6" name="กลุ่ม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สี่เหลี่ยมผืนผ้า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สี่เหลี่ยมผืนผ้า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rtl="0"/>
            <a:r>
              <a:rPr lang="th-th"/>
              <a:t>ผู้เขียนข้อความอ้างอิง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คลิกเพื่อแก้ไขข้อความอ้างอิง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912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ส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D004E38F-46D8-838A-C636-0958E5B36C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313433"/>
            <a:ext cx="5165725" cy="4000056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2" name="ตัวแทนเนื้อหา 11">
            <a:extLst>
              <a:ext uri="{FF2B5EF4-FFF2-40B4-BE49-F238E27FC236}">
                <a16:creationId xmlns:a16="http://schemas.microsoft.com/office/drawing/2014/main" id="{E8F84C8F-5A53-198D-2CB3-A78F006C4D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313430"/>
            <a:ext cx="5165725" cy="4000057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ตัวแทนหมายเลขสไลด์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8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98999"/>
            <a:ext cx="5166360" cy="484632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9" name="ตัวแทนเนื้อหา 8">
            <a:extLst>
              <a:ext uri="{FF2B5EF4-FFF2-40B4-BE49-F238E27FC236}">
                <a16:creationId xmlns:a16="http://schemas.microsoft.com/office/drawing/2014/main" id="{1D708347-B003-2458-75EC-D8317FBF02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794000"/>
            <a:ext cx="5165725" cy="352425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98999"/>
            <a:ext cx="5166360" cy="484633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14" name="ตัวแทนเนื้อหา 13">
            <a:extLst>
              <a:ext uri="{FF2B5EF4-FFF2-40B4-BE49-F238E27FC236}">
                <a16:creationId xmlns:a16="http://schemas.microsoft.com/office/drawing/2014/main" id="{6F3E993C-0A55-1F54-C280-76AF30E5377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794000"/>
            <a:ext cx="5166360" cy="352425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0" name="ตัวแทนหมายเลขสไลด์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37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ชื่อเรื่องเท่านั้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331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7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ที่มี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38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รูปภาพที่มี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กลุ่ม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สี่เหลี่ยมผืนผ้า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2" name="สี่เหลี่ยมผืนผ้า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24" name="ตัวแทนท้ายกระดาษ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8" name="ตัวแทนรูปภาพ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23" name="ตัวแทนวันที่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25" name="ตัวแทนหมายเลขสไลด์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542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สรุป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สี่เหลี่ยมผืนผ้า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rtlCol="0"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33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สรุป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rtlCol="0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4D4-D39A-AF7A-55BB-BEC7C693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/>
          <a:p>
            <a:r>
              <a:rPr lang="en-US"/>
              <a:t>สรุปผลการปฏิบัติการศูนย์กระจายสินค้า (Executive Update Template)</a:t>
            </a:r>
          </a:p>
        </p:txBody>
      </p:sp>
      <p:pic>
        <p:nvPicPr>
          <p:cNvPr id="4" name="Picture 3" descr="บรรจุภัณฑ์และอุปกรณ์ขนถ่ายวัสดุที่คลังสินค้า">
            <a:extLst>
              <a:ext uri="{FF2B5EF4-FFF2-40B4-BE49-F238E27FC236}">
                <a16:creationId xmlns:a16="http://schemas.microsoft.com/office/drawing/2014/main" id="{8B8042E6-8C83-4C73-855E-6215C4FFD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619" b="15131"/>
          <a:stretch>
            <a:fillRect/>
          </a:stretch>
        </p:blipFill>
        <p:spPr>
          <a:xfrm>
            <a:off x="20" y="1"/>
            <a:ext cx="12191980" cy="459102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794DF62-7D4E-6CFE-0C75-579E6A3566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/>
          <a:p>
            <a:r>
              <a:rPr lang="en-US"/>
              <a:t>ข้อมูลสำคัญเกี่ยวกับประสิทธิภาพและความคืบหน้า</a:t>
            </a:r>
          </a:p>
        </p:txBody>
      </p:sp>
    </p:spTree>
    <p:extLst>
      <p:ext uri="{BB962C8B-B14F-4D97-AF65-F5344CB8AC3E}">
        <p14:creationId xmlns:p14="http://schemas.microsoft.com/office/powerpoint/2010/main" val="333242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037D-42DC-FA37-5B11-A54874E9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ภาพรวมและวัตถุประสงค์การรายงาน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29478015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4F73-0186-9437-E262-B621B1B1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ภาพรวมการปฏิบัติการและบริบทสำหรับผู้บริหาร</a:t>
            </a:r>
          </a:p>
        </p:txBody>
      </p:sp>
      <p:pic>
        <p:nvPicPr>
          <p:cNvPr id="5" name="Content Placeholder 4" descr="อินเทอร์เฟซ hud โปรแกรมดิจิทัลแห่งอนาคตของคอมพิวเตอร์พร้อมระบบควบคุมส่วนบุคคลผ่านเครือข่ายซึ่งคอมพิวเตอร์ใช้อินเทอร์เฟซเพื่อโต้ตอบกับผู้ใช้">
            <a:extLst>
              <a:ext uri="{FF2B5EF4-FFF2-40B4-BE49-F238E27FC236}">
                <a16:creationId xmlns:a16="http://schemas.microsoft.com/office/drawing/2014/main" id="{8C40D3B2-6958-4EC0-8584-255893E07F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6272" r="22525" b="1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AC119-9448-FE5E-81B6-A21A0846790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1264919"/>
            <a:ext cx="5471160" cy="5053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ภาพรวมศูนย์กระจายสินค้า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รายงานครอบคลุมการดำเนินงานของศูนย์กระจายสินค้า 4 แห่งสำคัญในห่วงโซ่อุปทานค้าปลีก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คำถามหลักสำหรับผู้บริหาร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รายงานตอบคำถามหลัก 4 ข้อ คือ What happened, Why, So what และ Now what เพื่อช่วยตัดสินใจ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 </a:t>
            </a:r>
            <a:r>
              <a:rPr lang="en-US" b="1"/>
              <a:t>KPI </a:t>
            </a:r>
            <a:r>
              <a:rPr lang="th-TH" b="1"/>
              <a:t>เพื่อติดตามผล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ข้อมูล KPI เช่น อัตราการส่งตรงเวลาและชั่วโมงแรงงานถูกนำมาใช้สรุปประสิทธิภาพการปฏิบัติการ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ประโยชน์จากการใช้ </a:t>
            </a:r>
            <a:r>
              <a:rPr lang="en-US" b="1"/>
              <a:t>Template </a:t>
            </a:r>
            <a:r>
              <a:rPr lang="th-TH" b="1"/>
              <a:t>รายงาน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รายงานนี้ใช้เป็นตัวอย่าง Template ในการฝึกอบรม M365 Copilot เพื่อเพิ่มประสิทธิภาพและความสม่ำเสมอ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45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0094-3583-0BDE-B099-F3C9CCC3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โครงสร้างการนำเสนอสำหรับผู้บริหาร</a:t>
            </a:r>
          </a:p>
        </p:txBody>
      </p:sp>
    </p:spTree>
    <p:extLst>
      <p:ext uri="{BB962C8B-B14F-4D97-AF65-F5344CB8AC3E}">
        <p14:creationId xmlns:p14="http://schemas.microsoft.com/office/powerpoint/2010/main" val="8340053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4F1F-0E5D-F5C7-6E9E-54B9586A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Agenda และลำดับการเล่าเรื่องเชิงบริหาร</a:t>
            </a:r>
          </a:p>
        </p:txBody>
      </p:sp>
      <p:pic>
        <p:nvPicPr>
          <p:cNvPr id="5" name="Content Placeholder 4" descr="ภาพระยะใกล้ของกราฟธุรกิจและเอกสารบนโต๊ะ">
            <a:extLst>
              <a:ext uri="{FF2B5EF4-FFF2-40B4-BE49-F238E27FC236}">
                <a16:creationId xmlns:a16="http://schemas.microsoft.com/office/drawing/2014/main" id="{51767530-ED19-4F15-986F-D7F1B1E32A3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598" r="19953" b="-2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5090A-B1A8-630D-0521-4EC6A565EE8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02919"/>
            <a:ext cx="5471160" cy="5815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บทบาทของสไลด์ </a:t>
            </a:r>
            <a:r>
              <a:rPr lang="en-US" b="1"/>
              <a:t>Agenda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สไลด์ Agenda กำหนดกรอบความคิดและลำดับการเล่าเรื่องสำหรับผู้บริหารตั้งแต่ต้นจนจบการนำเสนอ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โครงสร้างมาตรฐานของ </a:t>
            </a:r>
            <a:r>
              <a:rPr lang="en-US" b="1"/>
              <a:t>Agenda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ประกอบด้วย Executive Summary, KPI Highlights, ปัญหาและสาเหตุ, แผนแก้ไข และรายการตัดสินใจผู้บริหาร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ประโยชน์ของ </a:t>
            </a:r>
            <a:r>
              <a:rPr lang="en-US" b="1"/>
              <a:t>Agenda </a:t>
            </a:r>
            <a:r>
              <a:rPr lang="th-TH" b="1"/>
              <a:t>ชัดเจน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ช่วยให้ผู้บริหารรับรู้ภาพรวม ลดคำถามซ้ำ และโฟกัสที่การตัดสินใจมากกว่าข้อมูลพื้นฐาน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 </a:t>
            </a:r>
            <a:r>
              <a:rPr lang="en-US" b="1"/>
              <a:t>Copilot </a:t>
            </a:r>
            <a:r>
              <a:rPr lang="th-TH" b="1"/>
              <a:t>ในการสร้าง </a:t>
            </a:r>
            <a:r>
              <a:rPr lang="en-US" b="1"/>
              <a:t>Agenda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Copilot ช่วยสร้างหรือปรับแต่ง Agenda อัตโนมัติจากข้อมูลต้นทาง เพิ่มเวลาวิเคราะห์และเตรียมกลยุทธ์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244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6829-2729-2F1A-1D5B-859761DF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ผลการดำเนินงานเชิงตัวเลข</a:t>
            </a:r>
          </a:p>
        </p:txBody>
      </p:sp>
    </p:spTree>
    <p:extLst>
      <p:ext uri="{BB962C8B-B14F-4D97-AF65-F5344CB8AC3E}">
        <p14:creationId xmlns:p14="http://schemas.microsoft.com/office/powerpoint/2010/main" val="1635419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F8EA-6268-E497-4B10-05AD00B4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KPI Highlights ของศูนย์กระจายสินค้า</a:t>
            </a:r>
          </a:p>
        </p:txBody>
      </p:sp>
      <p:pic>
        <p:nvPicPr>
          <p:cNvPr id="5" name="Content Placeholder 4" descr="http://teekid.com/istockphoto/banner/banner3.jpg">
            <a:extLst>
              <a:ext uri="{FF2B5EF4-FFF2-40B4-BE49-F238E27FC236}">
                <a16:creationId xmlns:a16="http://schemas.microsoft.com/office/drawing/2014/main" id="{5DBEBBD5-A26C-45CB-918C-E10D59D96A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304" r="1" b="8509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0DA6C-594F-FA2A-4D01-45C18BFE3D3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1264919"/>
            <a:ext cx="5471160" cy="5053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บทบาทของ </a:t>
            </a:r>
            <a:r>
              <a:rPr lang="en-US" b="1"/>
              <a:t>KPI Highlights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KPI Highlights ช่วยสื่อสารผลการดำเนินงานที่สำคัญและภาพรวมให้ผู้บริหารเห็นภาพเดียวกันชัดเจน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ตัวชี้วัดหลักสำคัญ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ตัวชี้วัดหลักรวมถึงจำนวนออเดอร์ อัตราการส่งตรงเวลา อัตราการเติมเต็มสินค้า และชั่วโมง OT รวม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การวิเคราะห์ปัญหา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การเปรียบเทียบ KPI ระหว่างศูนย์ช่วยระบุปัญหาคอขวดและการวางแผนทรัพยากรที่ต้องปรับปรุง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การนำเสนอข้อมูลอัตโนมัติ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ข้อมูลจาก Excel ถูกสรุปและจัดรูปแบบเป็นสไลด์โดยอัตโนมัติ ลดความผิดพลาดและเพิ่มความน่าเชื่อถือ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81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0EBD-2300-5598-C24C-8A0B06D6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การวิเคราะห์ปัญหาและสาเหตุ</a:t>
            </a:r>
          </a:p>
        </p:txBody>
      </p:sp>
    </p:spTree>
    <p:extLst>
      <p:ext uri="{BB962C8B-B14F-4D97-AF65-F5344CB8AC3E}">
        <p14:creationId xmlns:p14="http://schemas.microsoft.com/office/powerpoint/2010/main" val="1508343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7DED-0C1B-F42B-B528-7B2AE6B4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Issues และ Root Causes ที่ส่งผลต่อการปฏิบัติการ</a:t>
            </a:r>
          </a:p>
        </p:txBody>
      </p:sp>
      <p:pic>
        <p:nvPicPr>
          <p:cNvPr id="5" name="Content Placeholder 4" descr="แล็ปท็อปพร้อมหน้าจอกราฟบนโต๊ะ">
            <a:extLst>
              <a:ext uri="{FF2B5EF4-FFF2-40B4-BE49-F238E27FC236}">
                <a16:creationId xmlns:a16="http://schemas.microsoft.com/office/drawing/2014/main" id="{8A7D9563-98C8-4577-A1EF-A7A99617A68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2981" r="-2" b="-2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571F0-F6DE-B7FC-AE39-9C149726161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02919"/>
            <a:ext cx="5471160" cy="5815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การเชื่อมโยง </a:t>
            </a:r>
            <a:r>
              <a:rPr lang="en-US" b="1"/>
              <a:t>KPI </a:t>
            </a:r>
            <a:r>
              <a:rPr lang="th-TH" b="1"/>
              <a:t>กับสถานการณ์จริง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สไลด์นี้แสดงให้เห็นว่าปัญหาที่เกิดขึ้นมีที่มาอย่างไรและส่งผลกระทบต่อการปฏิบัติการในมิติใดบ้าง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ตัวอย่างปัญหาในการปฏิบัติการ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การส่งของล่าช้าของ DC-บางบัวทองและ Fill rate ลดลงของ DC-เชียงใหม่เกิดจากปัจจัยที่แตกต่างกันเช่นขาดแคลนรถและ lead time ที่ยืดออก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ปัญหาด้านความปลอดภัย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ปัญหา near-miss และ incident จากการใช้รถโฟล์คลิฟต์ในพื้นที่คับแคบเป็นความเสี่ยงที่ต้องจัดการอย่างเข้มงวด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การใช้เทคโนโลยีช่วยวิเคราะห์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การใช้ Copilot และ Analysis Agent ช่วยสรุปข้อมูลจำนวนมากให้ง่ายต่อการตัดสินใจของผู้บริหาร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975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E5D2-CC30-1440-6225-162A33B5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แผนการแก้ไขระยะสั้น</a:t>
            </a:r>
          </a:p>
        </p:txBody>
      </p:sp>
    </p:spTree>
    <p:extLst>
      <p:ext uri="{BB962C8B-B14F-4D97-AF65-F5344CB8AC3E}">
        <p14:creationId xmlns:p14="http://schemas.microsoft.com/office/powerpoint/2010/main" val="4270284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F435-6D76-0B3F-4BD2-E4F44239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>
            <a:normAutofit/>
          </a:bodyPr>
          <a:lstStyle/>
          <a:p>
            <a:r>
              <a:rPr lang="en-US"/>
              <a:t>แผนแก้ไข 2 สัปดาห์และผู้รับผิดชอบ</a:t>
            </a:r>
          </a:p>
        </p:txBody>
      </p:sp>
      <p:pic>
        <p:nvPicPr>
          <p:cNvPr id="5" name="Content Placeholder 4" descr="เล่นเกมกระดานสมมติกับเบี้ย">
            <a:extLst>
              <a:ext uri="{FF2B5EF4-FFF2-40B4-BE49-F238E27FC236}">
                <a16:creationId xmlns:a16="http://schemas.microsoft.com/office/drawing/2014/main" id="{6379F051-14CC-4916-9B04-A1D8F41AE09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152" r="12157"/>
          <a:stretch>
            <a:fillRect/>
          </a:stretch>
        </p:blipFill>
        <p:spPr>
          <a:xfrm>
            <a:off x="115867" y="10"/>
            <a:ext cx="3968496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38C22-935C-30FF-DD79-6CF6086126D0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06516" y="1472183"/>
            <a:ext cx="6858000" cy="47823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การกำหนด </a:t>
            </a:r>
            <a:r>
              <a:rPr lang="en-US" b="1"/>
              <a:t>Action </a:t>
            </a:r>
            <a:r>
              <a:rPr lang="th-TH" b="1"/>
              <a:t>ชัดเจน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แผน 2 สัปดาห์ระบุ Action ที่ชัดเจนเพื่อแก้ไขปัญหาอย่างเป็นรูปธรรมและตรงจุด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การระบุผู้รับผิดชอบ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กำหนดผู้รับผิดชอบแต่ละ Action เพื่อความชัดเจนและลดความคลุมเครือในการทำงาน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มาตรการลดคอขวดและความปลอดภัย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เพิ่มจุดสแกนและรถขนส่งสำรอง พร้อมทำ 5S เพื่อเสริมมาตรการความปลอดภัยในโซนคัดแยก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 </a:t>
            </a:r>
            <a:r>
              <a:rPr lang="en-US" b="1"/>
              <a:t>Copilot </a:t>
            </a:r>
            <a:r>
              <a:rPr lang="th-TH" b="1"/>
              <a:t>ในการสร้างแผน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Copilot ช่วยสร้างตารางและเนื้อหาอัตโนมัติจากโน้ตหรือไฟล์ Word เพื่อประหยัดเวลา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319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9145-DFD4-263B-6794-4F6B49AB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การตัดสินใจและการสนับสนุนจากผู้บริหาร</a:t>
            </a:r>
          </a:p>
        </p:txBody>
      </p:sp>
    </p:spTree>
    <p:extLst>
      <p:ext uri="{BB962C8B-B14F-4D97-AF65-F5344CB8AC3E}">
        <p14:creationId xmlns:p14="http://schemas.microsoft.com/office/powerpoint/2010/main" val="29611037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1863-7C4E-BED7-AC44-0411C383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anchor="b">
            <a:normAutofit/>
          </a:bodyPr>
          <a:lstStyle/>
          <a:p>
            <a:r>
              <a:rPr lang="en-US" sz="3800"/>
              <a:t>Requests to Leadership และการตัดสินใจที่ต้องการ</a:t>
            </a:r>
          </a:p>
        </p:txBody>
      </p:sp>
      <p:pic>
        <p:nvPicPr>
          <p:cNvPr id="5" name="Content Placeholder 4" descr="แลกเปลี่ยนความคิดเห็นในห้องประชุม">
            <a:extLst>
              <a:ext uri="{FF2B5EF4-FFF2-40B4-BE49-F238E27FC236}">
                <a16:creationId xmlns:a16="http://schemas.microsoft.com/office/drawing/2014/main" id="{14523A0C-A316-4574-9CCF-00712524E76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462" r="31849" b="-1"/>
          <a:stretch>
            <a:fillRect/>
          </a:stretch>
        </p:blipFill>
        <p:spPr>
          <a:xfrm>
            <a:off x="119307" y="10"/>
            <a:ext cx="5413248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16220-7FBE-90FB-25E6-92EF7BA7864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72784" y="2834640"/>
            <a:ext cx="5138928" cy="299923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sz="1400" b="1"/>
              <a:t>ความสำคัญของคำขอ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th-TH" sz="1400"/>
              <a:t>คำขอเชื่อมโยงข้อมูลและวิเคราะห์เข้ากับการตัดสินใจของผู้บริหารอย่างชัดเจนและตรงประเด็น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sz="1400" b="1"/>
              <a:t>ตัวอย่างคำขอสำคัญ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th-TH" sz="1400"/>
              <a:t>รวมถึงการอนุมัติรถขนส่งสำรอง งบประมาณอุปกรณ์สแกน และแคมเปญความปลอดภัยในคลังสินค้า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sz="1400" b="1"/>
              <a:t>บทบาทของ </a:t>
            </a:r>
            <a:r>
              <a:rPr lang="en-US" sz="1400" b="1"/>
              <a:t>Copilot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Copilot </a:t>
            </a:r>
            <a:r>
              <a:rPr lang="th-TH" sz="1400"/>
              <a:t>ช่วยสรุปข้อเสนอเชิงกลยุทธ์จากข้อมูลจำนวนมากให้ชัดเจนและพร้อมสำหรับการตัดสินใจของผู้บริหาร</a:t>
            </a:r>
          </a:p>
        </p:txBody>
      </p:sp>
    </p:spTree>
    <p:extLst>
      <p:ext uri="{BB962C8B-B14F-4D97-AF65-F5344CB8AC3E}">
        <p14:creationId xmlns:p14="http://schemas.microsoft.com/office/powerpoint/2010/main" val="6803381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โครมา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30" ma:contentTypeDescription="Create a new document." ma:contentTypeScope="" ma:versionID="a13b221ee5b949bd1d4a5301a6f516f4">
  <xsd:schema xmlns:xsd="http://www.w3.org/2001/XMLSchema" xmlns:xs="http://www.w3.org/2001/XMLSchema" xmlns:p="http://schemas.microsoft.com/office/2006/metadata/properties" xmlns:ns1="http://schemas.microsoft.com/sharepoint/v3" xmlns:ns2="9e626b82-2e62-4b56-b4f0-2eb243f478f4" xmlns:ns3="230e9df3-be65-4c73-a93b-d1236ebd677e" xmlns:ns4="543e3375-4853-4ccc-a3e2-1512ebb9cffd" targetNamespace="http://schemas.microsoft.com/office/2006/metadata/properties" ma:root="true" ma:fieldsID="233e7f4977957a9e20bc87caea750b4e" ns1:_="" ns2:_="" ns3:_="" ns4:_="">
    <xsd:import namespace="http://schemas.microsoft.com/sharepoint/v3"/>
    <xsd:import namespace="9e626b82-2e62-4b56-b4f0-2eb243f478f4"/>
    <xsd:import namespace="230e9df3-be65-4c73-a93b-d1236ebd677e"/>
    <xsd:import namespace="543e3375-4853-4ccc-a3e2-1512ebb9c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ocTag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ystemTags" minOccurs="0"/>
                <xsd:element ref="ns2:Styletags_x0028_include1_x002d_3_x0029_" minOccurs="0"/>
                <xsd:element ref="ns2:Vertical" minOccurs="0"/>
                <xsd:element ref="ns2:Intent" minOccurs="0"/>
                <xsd:element ref="ns2:Thumbnai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Styletags_x0028_include1_x002d_3_x0029_" ma:index="28" nillable="true" ma:displayName="Style tags (include 1 - 3)" ma:format="Dropdown" ma:internalName="Styletags_x0028_include1_x002d_3_x0029_">
      <xsd:simpleType>
        <xsd:restriction base="dms:Text">
          <xsd:maxLength value="255"/>
        </xsd:restriction>
      </xsd:simpleType>
    </xsd:element>
    <xsd:element name="Vertical" ma:index="29" nillable="true" ma:displayName="Vertical" ma:format="Dropdown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imals &amp; pets"/>
                    <xsd:enumeration value="Art &amp; design"/>
                    <xsd:enumeration value="Beauty"/>
                    <xsd:enumeration value="Business"/>
                    <xsd:enumeration value="Fashion"/>
                    <xsd:enumeration value="Floral &amp; garden"/>
                    <xsd:enumeration value="Food &amp; drink"/>
                    <xsd:enumeration value="General"/>
                    <xsd:enumeration value="Health &amp; fitness"/>
                  </xsd:restriction>
                </xsd:simpleType>
              </xsd:element>
            </xsd:sequence>
          </xsd:extension>
        </xsd:complexContent>
      </xsd:complexType>
    </xsd:element>
    <xsd:element name="Intent" ma:index="30" nillable="true" ma:displayName="Intent" ma:format="Dropdown" ma:internalName="Int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out me"/>
                    <xsd:enumeration value="Activism"/>
                    <xsd:enumeration value="Announcement - event"/>
                    <xsd:enumeration value="Announcement - product"/>
                    <xsd:enumeration value="Business"/>
                    <xsd:enumeration value="Celebrate - holiday"/>
                    <xsd:enumeration value="Celebrate - life moments"/>
                    <xsd:enumeration value="Engagement post"/>
                    <xsd:enumeration value="Grand opening"/>
                    <xsd:enumeration value="Marketplace"/>
                    <xsd:enumeration value="Open house"/>
                    <xsd:enumeration value="Quote"/>
                    <xsd:enumeration value="Sale"/>
                    <xsd:enumeration value="Simple phrases"/>
                    <xsd:enumeration value="Subscribe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Thumbnail" ma:index="31" nillable="true" ma:displayName="Thumbnail" ma:format="Thumbnail" ma:internalName="Thumbnail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51309a-75b7-4c22-93ea-c24616af8dd0}" ma:internalName="TaxCatchAll" ma:showField="CatchAllData" ma:web="543e3375-4853-4ccc-a3e2-1512ebb9c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e3375-4853-4ccc-a3e2-1512ebb9cff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9e626b82-2e62-4b56-b4f0-2eb243f478f4" xsi:nil="true"/>
    <Thumbnail xmlns="9e626b82-2e62-4b56-b4f0-2eb243f478f4" xsi:nil="true"/>
    <Vertical xmlns="9e626b82-2e62-4b56-b4f0-2eb243f478f4" xsi:nil="true"/>
    <lcf76f155ced4ddcb4097134ff3c332f xmlns="9e626b82-2e62-4b56-b4f0-2eb243f478f4">
      <Terms xmlns="http://schemas.microsoft.com/office/infopath/2007/PartnerControls"/>
    </lcf76f155ced4ddcb4097134ff3c332f>
    <Styletags_x0028_include1_x002d_3_x0029_ xmlns="9e626b82-2e62-4b56-b4f0-2eb243f478f4" xsi:nil="true"/>
    <Intent xmlns="9e626b82-2e62-4b56-b4f0-2eb243f478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D9C1A1-5965-4C3E-A2D4-C0E2786261AD}">
  <ds:schemaRefs>
    <ds:schemaRef ds:uri="230e9df3-be65-4c73-a93b-d1236ebd677e"/>
    <ds:schemaRef ds:uri="543e3375-4853-4ccc-a3e2-1512ebb9cffd"/>
    <ds:schemaRef ds:uri="9e626b82-2e62-4b56-b4f0-2eb243f478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765D7D-D5CE-4522-8099-745D903F48D3}">
  <ds:schemaRefs>
    <ds:schemaRef ds:uri="230e9df3-be65-4c73-a93b-d1236ebd677e"/>
    <ds:schemaRef ds:uri="9e626b82-2e62-4b56-b4f0-2eb243f478f4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75CE36B-7578-4CD8-A1EE-AB0D9EA3EA5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Chroma</Template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โครมา</vt:lpstr>
      <vt:lpstr>สรุปผลการปฏิบัติการศูนย์กระจายสินค้า (Executive Update Template)</vt:lpstr>
      <vt:lpstr>ภาพรวมและวัตถุประสงค์การรายงาน</vt:lpstr>
      <vt:lpstr>ภาพรวมการปฏิบัติการและบริบทสำหรับผู้บริหาร</vt:lpstr>
      <vt:lpstr>โครงสร้างการนำเสนอสำหรับผู้บริหาร</vt:lpstr>
      <vt:lpstr>Agenda และลำดับการเล่าเรื่องเชิงบริหาร</vt:lpstr>
      <vt:lpstr>ผลการดำเนินงานเชิงตัวเลข</vt:lpstr>
      <vt:lpstr>KPI Highlights ของศูนย์กระจายสินค้า</vt:lpstr>
      <vt:lpstr>การวิเคราะห์ปัญหาและสาเหตุ</vt:lpstr>
      <vt:lpstr>Issues และ Root Causes ที่ส่งผลต่อการปฏิบัติการ</vt:lpstr>
      <vt:lpstr>แผนการแก้ไขระยะสั้น</vt:lpstr>
      <vt:lpstr>แผนแก้ไข 2 สัปดาห์และผู้รับผิดชอบ</vt:lpstr>
      <vt:lpstr>การตัดสินใจและการสนับสนุนจากผู้บริหาร</vt:lpstr>
      <vt:lpstr>Requests to Leadership และการตัดสินใจที่ต้องการ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2025-08-21T22:55:37Z</dcterms:created>
  <dcterms:modified xsi:type="dcterms:W3CDTF">2026-03-23T14:44:52Z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  <property fmtid="{D5CDD505-2E9C-101B-9397-08002B2CF9AE}" pid="3" name="MediaServiceImageTags">
    <vt:lpwstr/>
  </property>
</Properties>
</file>